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  <a:latin typeface="Microsoft YaHei"/>
              </a:defRPr>
            </a:pPr>
            <a:r>
              <a:t>E2E-O05 阶段性汇报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YaHei"/>
              </a:defRPr>
            </a:pPr>
            <a:r>
              <a:t>智擎 E2E 全链路协同与智能引擎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  <a:latin typeface="Microsoft YaHei"/>
              </a:defRPr>
            </a:pPr>
            <a:r>
              <a:t>项目愿景：打造高可靠、高保真、毫秒级响应的企业级智能作业交付中枢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项目概况与背景</a:t>
            </a:r>
          </a:p>
          <a:p>
            <a:pPr>
              <a:spcBef>
                <a:spcPts val="1400"/>
              </a:spcBef>
              <a:defRPr sz="1200">
                <a:solidFill>
                  <a:srgbClr val="475569"/>
                </a:solidFill>
                <a:latin typeface="Microsoft YaHei"/>
              </a:defRPr>
            </a:pPr>
            <a:r>
              <a:t>智擎 E2E 专项聚焦企业跨系统协同繁琐、模态转换易失真、交付链条漫长等核心瓶颈，旨在打通从业务诉求到文档、数据与自动化执行的全生命周期闭环。</a:t>
            </a:r>
          </a:p>
          <a:p>
            <a:pPr>
              <a:spcBef>
                <a:spcPts val="2000"/>
              </a:spcBef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t>当前汇报节点：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• 汇报周期：Sprint 4 (总计 5 迭代)</a:t>
            </a:r>
            <a:br/>
            <a:r>
              <a:t>• 当前整体完成度：80.0%</a:t>
            </a:r>
            <a:br/>
            <a:r>
              <a:t>• 下阶段交付：M3 正式灰度版本</a:t>
            </a:r>
            <a:br/>
            <a:r>
              <a:t>• 质量评定：正常交付（绿灯）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7132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80560" y="2057400"/>
            <a:ext cx="594360" cy="5943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965960"/>
            <a:ext cx="60350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全链路作业吞吐提速 65%  |  </a:t>
            </a:r>
            <a:r>
              <a:rPr sz="1200" b="1">
                <a:solidFill>
                  <a:srgbClr val="2563EB"/>
                </a:solidFill>
              </a:rPr>
              <a:t>业务交付周期由 14 天缩短至 4.9 天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通过轻量容器化微调度，打通指令解析、算力分配至结果合成的自动化流水线，极大降低人工流转卡点与跨团队沟通摩擦。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364992"/>
            <a:ext cx="7132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0560" y="3593592"/>
            <a:ext cx="594360" cy="5943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3502152"/>
            <a:ext cx="60350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跨模态输出保真度 ≥ 99.5%  |  </a:t>
            </a:r>
            <a:r>
              <a:rPr sz="1200" b="1">
                <a:solidFill>
                  <a:srgbClr val="2563EB"/>
                </a:solidFill>
              </a:rPr>
              <a:t>原生 Office、交互式网页与高精度图表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消除排版跑版与样式割裂，保证 PPTX/DOCX/HTML 原生输出具备像素级保真度，达成零代码直接投产与汇报交付要求。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4901184"/>
            <a:ext cx="7132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0560" y="5129784"/>
            <a:ext cx="594360" cy="5943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563EB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5038344"/>
            <a:ext cx="60350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微隔离架构与 99.99% 可用性  |  </a:t>
            </a:r>
            <a:r>
              <a:rPr sz="1200" b="1">
                <a:solidFill>
                  <a:srgbClr val="2563EB"/>
                </a:solidFill>
              </a:rPr>
              <a:t>多租户沙箱安全防护与高并发容灾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全面构建独立隔离非 root 沙箱矩阵，实现并发任务零资源抢占，配合健康度自动巡检探针，提供企业级可信安全底座。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  <a:latin typeface="Microsoft YaHei"/>
              </a:defRPr>
            </a:pPr>
            <a:r>
              <a:t>MILESTONE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YaHei"/>
              </a:defRPr>
            </a:pPr>
            <a:r>
              <a:t>当前整体进度达成 80%：核心矩阵就绪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  <a:latin typeface="Microsoft YaHei"/>
              </a:defRPr>
            </a:pPr>
            <a:r>
              <a:t>重点模块如期交付，关键技术风险基本收敛，系统进入综合联调与压测阶段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563EB"/>
                </a:solidFill>
                <a:latin typeface="Segoe UI"/>
              </a:defRPr>
            </a:pPr>
            <a:r>
              <a:t>80%</a:t>
            </a:r>
          </a:p>
          <a:p>
            <a:pPr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整体工期达成率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2148840"/>
            <a:ext cx="5303520" cy="219456"/>
          </a:xfrm>
          <a:prstGeom prst="round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17520" y="2148840"/>
            <a:ext cx="4242816" cy="21945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24688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475569"/>
                </a:solidFill>
                <a:latin typeface="Microsoft YaHei"/>
              </a:defRPr>
            </a:pPr>
            <a:r>
              <a:t>阶段总目标 54 项功能点，已合入 43 项 | 离线评估通过率 98.6% | 剩余 20% 聚焦高并发优化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874519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Microsoft YaHei"/>
              </a:defRPr>
            </a:pPr>
            <a:r>
              <a:t>已交付任务：36 项 (83%)</a:t>
            </a:r>
          </a:p>
          <a:p>
            <a:pPr>
              <a:spcBef>
                <a:spcPts val="300"/>
              </a:spcBef>
              <a:defRPr sz="1150">
                <a:solidFill>
                  <a:srgbClr val="F59E0B"/>
                </a:solidFill>
                <a:latin typeface="Microsoft YaHei"/>
              </a:defRPr>
            </a:pPr>
            <a:r>
              <a:t>集成联调中：7 项 (17%)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累计消耗工时：820 / 1025 人天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40"/>
            <a:ext cx="2542032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28600"/>
          <a:lstStyle/>
          <a:p>
            <a:pPr algn="ctr"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底座调度矩阵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容器隔离沙箱</a:t>
            </a:r>
          </a:p>
          <a:p>
            <a:pPr>
              <a:spcBef>
                <a:spcPts val="800"/>
              </a:spcBef>
              <a:defRPr sz="2400" b="1">
                <a:solidFill>
                  <a:srgbClr val="10B981"/>
                </a:solidFill>
                <a:latin typeface="Segoe UI"/>
              </a:defRPr>
            </a:pPr>
            <a:r>
              <a:t>100%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轻量沙箱快速启停与毫秒级环境重置技术已实现全量测试，资源利用率提升 40%。</a:t>
            </a:r>
          </a:p>
          <a:p>
            <a:pPr>
              <a:spcBef>
                <a:spcPts val="1000"/>
              </a:spcBef>
              <a:defRPr sz="1050" b="1">
                <a:solidFill>
                  <a:srgbClr val="10B981"/>
                </a:solidFill>
                <a:latin typeface="Microsoft YaHei"/>
              </a:defRPr>
            </a:pPr>
            <a:r>
              <a:t>状态：已封版归档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3291840"/>
            <a:ext cx="2542032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28600"/>
          <a:lstStyle/>
          <a:p>
            <a:pPr algn="ctr"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核心协同管道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E2E 自动化中枢</a:t>
            </a:r>
          </a:p>
          <a:p>
            <a:pPr>
              <a:spcBef>
                <a:spcPts val="800"/>
              </a:spcBef>
              <a:defRPr sz="2400" b="1">
                <a:solidFill>
                  <a:srgbClr val="2563EB"/>
                </a:solidFill>
                <a:latin typeface="Segoe UI"/>
              </a:defRPr>
            </a:pPr>
            <a:r>
              <a:t>90%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全链路指令流转、任务状态机与双通道分发能力已就绪，正在进行全链路边界用例演练。</a:t>
            </a:r>
          </a:p>
          <a:p>
            <a:pPr>
              <a:spcBef>
                <a:spcPts val="1000"/>
              </a:spcBef>
              <a:defRPr sz="1050" b="1">
                <a:solidFill>
                  <a:srgbClr val="2563EB"/>
                </a:solidFill>
                <a:latin typeface="Microsoft YaHei"/>
              </a:defRPr>
            </a:pPr>
            <a:r>
              <a:t>状态：联调收尾中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3291840"/>
            <a:ext cx="2542032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28600"/>
          <a:lstStyle/>
          <a:p>
            <a:pPr algn="ctr"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跨模态渲染引擎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原生格式保真导出</a:t>
            </a:r>
          </a:p>
          <a:p>
            <a:pPr>
              <a:spcBef>
                <a:spcPts val="800"/>
              </a:spcBef>
              <a:defRPr sz="2400" b="1">
                <a:solidFill>
                  <a:srgbClr val="2563EB"/>
                </a:solidFill>
                <a:latin typeface="Segoe UI"/>
              </a:defRPr>
            </a:pPr>
            <a:r>
              <a:t>80%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PPTX/DOCX/HTML 双向互转引擎稳定运行，复杂排版还原度达标，当前攻坚大文件极限压测。</a:t>
            </a:r>
          </a:p>
          <a:p>
            <a:pPr>
              <a:spcBef>
                <a:spcPts val="1000"/>
              </a:spcBef>
              <a:defRPr sz="1050" b="1">
                <a:solidFill>
                  <a:srgbClr val="2563EB"/>
                </a:solidFill>
                <a:latin typeface="Microsoft YaHei"/>
              </a:defRPr>
            </a:pPr>
            <a:r>
              <a:t>状态：灰度压测中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3291840"/>
            <a:ext cx="2542032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28600"/>
          <a:lstStyle/>
          <a:p>
            <a:pPr algn="ctr"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运营运维控制台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全链路可视化监控</a:t>
            </a:r>
          </a:p>
          <a:p>
            <a:pPr>
              <a:spcBef>
                <a:spcPts val="800"/>
              </a:spcBef>
              <a:defRPr sz="2400" b="1">
                <a:solidFill>
                  <a:srgbClr val="F59E0B"/>
                </a:solidFill>
                <a:latin typeface="Segoe UI"/>
              </a:defRPr>
            </a:pPr>
            <a:r>
              <a:t>50%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  <a:latin typeface="Microsoft YaHei"/>
              </a:defRPr>
            </a:pPr>
            <a:r>
              <a:t>健康度监控探针已埋点，正进行 Grafana 仪表盘与告警降级策略配置，为下周重点推进项。</a:t>
            </a:r>
          </a:p>
          <a:p>
            <a:pPr>
              <a:spcBef>
                <a:spcPts val="1000"/>
              </a:spcBef>
              <a:defRPr sz="1050" b="1">
                <a:solidFill>
                  <a:srgbClr val="F59E0B"/>
                </a:solidFill>
                <a:latin typeface="Microsoft YaHei"/>
              </a:defRPr>
            </a:pPr>
            <a:r>
              <a:t>状态：全面冲刺中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  <a:latin typeface="Microsoft YaHei"/>
              </a:defRPr>
            </a:pPr>
            <a:r>
              <a:t>NEXT STEP &amp; RISK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YaHei"/>
              </a:defRPr>
            </a:pPr>
            <a:r>
              <a:t>下周攻坚推进计划：冲刺 95% 里程碑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  <a:latin typeface="Microsoft YaHei"/>
              </a:defRPr>
            </a:pPr>
            <a:r>
              <a:t>聚焦跨模态引擎并发调优与运维监控闭环，确保 M3 版本如期高标准交付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029968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/>
          <a:lstStyle/>
          <a:p>
            <a:pPr algn="ctr"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周一 (10/19)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t>并发基准测试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Microsoft YaHei"/>
              </a:defRPr>
            </a:pPr>
            <a:r>
              <a:t>跨模态引擎启动 500+ QPS 极限并发压测，排查内存与进程锁瓶颈。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98648" y="1737360"/>
            <a:ext cx="2029968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/>
          <a:lstStyle/>
          <a:p>
            <a:pPr algn="ctr"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周二 (10/20)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t>冷启动预热调优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Microsoft YaHei"/>
              </a:defRPr>
            </a:pPr>
            <a:r>
              <a:t>部署微隔离容器预热池机制，将任务冷启动延迟由 1.2s 压降至 350ms。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65776" y="1737360"/>
            <a:ext cx="2029968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/>
          <a:lstStyle/>
          <a:p>
            <a:pPr algn="ctr"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周三 (10/21)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t>监控大盘全联调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Microsoft YaHei"/>
              </a:defRPr>
            </a:pPr>
            <a:r>
              <a:t>打通端到端 Tracing 链路，完成 Grafana 业务监控指标与告警阈值联动。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32904" y="1737360"/>
            <a:ext cx="2029968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/>
          <a:lstStyle/>
          <a:p>
            <a:pPr algn="ctr"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周四 (10/22)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t>集成冒烟与验收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Microsoft YaHei"/>
              </a:defRPr>
            </a:pPr>
            <a:r>
              <a:t>组织首轮全链路 E2E 跨部门联合冒烟测试，覆盖 20+ 典型真实业务案例。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00032" y="1737360"/>
            <a:ext cx="2029968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/>
          <a:lstStyle/>
          <a:p>
            <a:pPr algn="ctr"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周五 (10/23)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t>代码冻结与评审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Microsoft YaHei"/>
              </a:defRPr>
            </a:pPr>
            <a:r>
              <a:t>实施 M3 候选版本代码冻结（Code Freeze），召开上线就绪度（ORR）评审会。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2578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300" b="1">
                <a:solidFill>
                  <a:srgbClr val="DC2626"/>
                </a:solidFill>
                <a:latin typeface="Microsoft YaHei"/>
              </a:defRPr>
            </a:pPr>
            <a:r>
              <a:t>⚠️ 关键风险 1：超大文档（&gt;50MB）渲染时内存开销尖峰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• 风险影响：多并发场景下可能导致沙箱容器偶发 OOM 崩溃。</a:t>
            </a:r>
            <a:br/>
            <a:r>
              <a:t>• 应对预案：已引入分片流式排版算法与即时垃圾回收机制，对单任务内存阈值设为 1.5GB 硬限制；下周二完成专项压测验证。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4114800"/>
            <a:ext cx="52578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300" b="1">
                <a:solidFill>
                  <a:srgbClr val="2563EB"/>
                </a:solidFill>
                <a:latin typeface="Microsoft YaHei"/>
              </a:defRPr>
            </a:pPr>
            <a:r>
              <a:t>🛡️ 保障举措 2：跨团队上下游业务接口联调依赖延迟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• 潜在制约：OA 及统一认证网关新接口预计周四才具备预发联调条件。</a:t>
            </a:r>
            <a:br/>
            <a:r>
              <a:t>• 应对预案：已前置构建高保真 Mock Server 测试桩，前端与管道已基于真实契约完成先行解耦自测，确保核心链路开发进度零阻塞。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